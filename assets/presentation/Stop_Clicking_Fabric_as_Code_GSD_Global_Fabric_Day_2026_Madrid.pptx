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123444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600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A73"/>
                </a:solidFill>
              </a:rPr>
              <a:t>Stop Clicking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02920" y="23317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Domina Microsoft Fabric con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Fabric as Code, Copilot y GSD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30352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73"/>
                </a:solidFill>
              </a:rPr>
              <a:t>David Oliva Paredes · Jorge Fernández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0352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A73"/>
                </a:solidFill>
              </a:rPr>
              <a:t>Viernes, 26 de junio de 2026</a:t>
            </a:r>
            <a:endParaRPr lang="en-US" sz="1600" dirty="0"/>
          </a:p>
        </p:txBody>
      </p:sp>
      <p:pic>
        <p:nvPicPr>
          <p:cNvPr id="8" name="Image 1" descr="/mnt/data/template_unzip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4389120"/>
            <a:ext cx="1280160" cy="1234440"/>
          </a:xfrm>
          <a:prstGeom prst="rect">
            <a:avLst/>
          </a:prstGeom>
        </p:spPr>
      </p:pic>
      <p:pic>
        <p:nvPicPr>
          <p:cNvPr id="9" name="Image 2" descr="/mnt/data/template_unzip/ppt/media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057400"/>
            <a:ext cx="2743200" cy="2606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Agenda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Del problema a una demo reproducible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68680" y="2331720"/>
            <a:ext cx="384048" cy="384048"/>
          </a:xfrm>
          <a:prstGeom prst="ellipse">
            <a:avLst/>
          </a:prstGeom>
          <a:solidFill>
            <a:srgbClr val="007A73"/>
          </a:solidFill>
          <a:ln w="12700">
            <a:solidFill>
              <a:srgbClr val="007A7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23911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0" y="23591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Por qué Fabric as Code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68680" y="2971800"/>
            <a:ext cx="384048" cy="384048"/>
          </a:xfrm>
          <a:prstGeom prst="ellipse">
            <a:avLst/>
          </a:prstGeom>
          <a:solidFill>
            <a:srgbClr val="007A73"/>
          </a:solidFill>
          <a:ln w="12700">
            <a:solidFill>
              <a:srgbClr val="007A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30312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2999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Dónde encaja GSD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68680" y="3611880"/>
            <a:ext cx="384048" cy="384048"/>
          </a:xfrm>
          <a:prstGeom prst="ellipse">
            <a:avLst/>
          </a:prstGeom>
          <a:solidFill>
            <a:srgbClr val="007A73"/>
          </a:solidFill>
          <a:ln w="12700">
            <a:solidFill>
              <a:srgbClr val="007A7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" y="36713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371600" y="36393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Cómo modelamos artefactos Fabric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007A73"/>
          </a:solidFill>
          <a:ln w="12700">
            <a:solidFill>
              <a:srgbClr val="007A7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68680" y="43113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371600" y="4279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Demo end-to-end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007A73"/>
          </a:solidFill>
          <a:ln w="12700">
            <a:solidFill>
              <a:srgbClr val="007A7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49514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371600" y="49194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Gobierno, límites y próximos pasos</a:t>
            </a:r>
            <a:endParaRPr lang="en-US" sz="1600" dirty="0"/>
          </a:p>
        </p:txBody>
      </p:sp>
      <p:pic>
        <p:nvPicPr>
          <p:cNvPr id="25" name="Image 2" descr="/mnt/data/template_unzip/ppt/media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920240"/>
            <a:ext cx="1691640" cy="16459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459322" y="423367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496251" y="423367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533181" y="423367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9570110" y="423367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5577840" y="3977640"/>
            <a:ext cx="881482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Intención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614770" y="3977640"/>
            <a:ext cx="881482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Spec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7651699" y="3977640"/>
            <a:ext cx="881482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Código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688629" y="3977640"/>
            <a:ext cx="881482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PR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9725558" y="3977640"/>
            <a:ext cx="881482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Deploy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Seguimos haciendo “click-ops” en datos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IaC es estándar… pero muchos entornos Fabric aún se operan manualmente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1945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01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69164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Cambios difíciles de revisar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30632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02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1691640" y="3172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Promoción entre entornos frágil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" y="39319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03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169164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Poca trazabilidad de decisiones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1520" y="48006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04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1691640" y="4910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IA sin contexto produce deuda</a:t>
            </a:r>
            <a:endParaRPr lang="en-US" sz="1600" dirty="0"/>
          </a:p>
        </p:txBody>
      </p:sp>
      <p:pic>
        <p:nvPicPr>
          <p:cNvPr id="18" name="Image 2" descr="/mnt/data/template_unzip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920240"/>
            <a:ext cx="1874520" cy="1828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064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A73"/>
                </a:solidFill>
              </a:rPr>
              <a:t>Objetivo de la sesión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5806440" y="4617720"/>
            <a:ext cx="4754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</a:rPr>
              <a:t>Convertir una solución de datos en un flujo declarativo, versionado, verificable y desplegable.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Modelo mental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GSD orquesta la intención; Fabric materializa los artefactos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765146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862779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960413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9058046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822960" y="2331720"/>
            <a:ext cx="19421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Requisito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20594" y="2331720"/>
            <a:ext cx="19421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GSD Spec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018227" y="2331720"/>
            <a:ext cx="19421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Copilot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115861" y="2331720"/>
            <a:ext cx="19421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Item Definitions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213494" y="2331720"/>
            <a:ext cx="19421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Fabric REST / CI/CD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4300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73"/>
                </a:solidFill>
              </a:rPr>
              <a:t>GSD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143000" y="3703320"/>
            <a:ext cx="27432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A1A1A"/>
                </a:solidFill>
              </a:rPr>
              <a:t>Discusión guiada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Plan de fases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Verificación continua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Contexto persistente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6177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73"/>
                </a:solidFill>
              </a:rPr>
              <a:t>Microsoft Fabric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17720" y="3703320"/>
            <a:ext cx="27432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A1A1A"/>
                </a:solidFill>
              </a:rPr>
              <a:t>Lakehouse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Notebook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Pipeline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Semantic Model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2960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73"/>
                </a:solidFill>
              </a:rPr>
              <a:t>DevOps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229600" y="3703320"/>
            <a:ext cx="2926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A1A1A"/>
                </a:solidFill>
              </a:rPr>
              <a:t>Git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Pull Request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Validación</a:t>
            </a:r>
            <a:endParaRPr lang="en-US" sz="1500" dirty="0"/>
          </a:p>
          <a:p>
            <a:r>
              <a:rPr lang="en-US" sz="1500" dirty="0">
                <a:solidFill>
                  <a:srgbClr val="1A1A1A"/>
                </a:solidFill>
              </a:rPr>
              <a:t>Promoción Dev/Test/Prod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GSD aplicado a Fabric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Un bucle disciplinado para que la IA no improvise arquitectura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326234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893515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460797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7028078" y="258775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914400" y="2331720"/>
            <a:ext cx="1411834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Discuss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481682" y="2331720"/>
            <a:ext cx="1411834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Plan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048963" y="2331720"/>
            <a:ext cx="1411834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Execute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616245" y="2331720"/>
            <a:ext cx="1411834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Verify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183526" y="2331720"/>
            <a:ext cx="1411834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Ship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60120" y="3246120"/>
            <a:ext cx="60350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A1A1A"/>
                </a:solidFill>
              </a:rPr>
              <a:t>STATE.md mantiene decisiones, alcance y supuestos.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Las fases obligan a separar intención, diseño, ejecución y prueba.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Copilot trabaja contra contexto explícito, no contra prompts sueltos.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223760" y="3063240"/>
            <a:ext cx="4023360" cy="150876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ejemplo de orden de trabajo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/gsd-discuss  solución Fabric ventas medallion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/gsd-plan     item definitions + CI/CD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/gsd-execute  crear artefactos y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/gsd-verify   validar estructura y despliegue</a:t>
            </a:r>
            <a:endParaRPr lang="en-US" sz="1200" dirty="0"/>
          </a:p>
        </p:txBody>
      </p:sp>
      <p:pic>
        <p:nvPicPr>
          <p:cNvPr id="21" name="Image 2" descr="/mnt/data/template_unzip/ppt/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143000"/>
            <a:ext cx="1325880" cy="1325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Arquitectura de trabajo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Una cadena reproducible de extremo a extremo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743200" y="333756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846320" y="333756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949440" y="333756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9052560" y="333756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1005840" y="2907792"/>
            <a:ext cx="1737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VS Code + GSD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108960" y="2907792"/>
            <a:ext cx="1737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Copilot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212080" y="2907792"/>
            <a:ext cx="1737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Git / PR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15200" y="2907792"/>
            <a:ext cx="1737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CI/CD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418320" y="2907792"/>
            <a:ext cx="1737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73"/>
                </a:solidFill>
              </a:rPr>
              <a:t>Fabric Workspace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097280" y="4617720"/>
            <a:ext cx="9601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</a:rPr>
              <a:t>El repositorio se convierte en la frontera de gobierno: todo cambio importante pasa por spec, revisión y despliegue controlado.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Repositorio de la demo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Estructura simple, legible y preparada para automatización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4937760" cy="384048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fabric-gsd-demo/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├─ .gsd/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├─ STATE.md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└─ phases/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├─ src/fabric/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├─ SalesLakehouse.Lakehouse/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├─ IngestSales.DataPipeline/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├─ TransformSales.Notebook/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└─ SalesModel.SemanticModel/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├─ infra/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├─ workspace.parameters.json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│  └─ deployment.yml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└─ tests/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└─ validate-definitions.ps1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A1A1A"/>
                </a:solidFill>
              </a:rPr>
              <a:t>Nombres de ítems coherentes con Fabric Git Integration.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Parámetros por entorno separados de la definición.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Validaciones previas al despliegue para evitar cambios invisibles.</a:t>
            </a:r>
            <a:endParaRPr lang="en-US" sz="1800" dirty="0"/>
          </a:p>
        </p:txBody>
      </p:sp>
      <p:pic>
        <p:nvPicPr>
          <p:cNvPr id="12" name="Image 2" descr="/mnt/data/template_unzip/ppt/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160520"/>
            <a:ext cx="150876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Demo: solución de ventas medallion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Un caso pequeño, pero suficientemente real para mostrar el flujo completo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514600" y="347472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572000" y="347472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629400" y="3474720"/>
            <a:ext cx="100584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1051560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Raw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5156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5454"/>
                </a:solidFill>
              </a:rPr>
              <a:t>CSV / API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108960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Bronze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10896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5454"/>
                </a:solidFill>
              </a:rPr>
              <a:t>Lakehouse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66360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Silver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16636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5454"/>
                </a:solidFill>
              </a:rPr>
              <a:t>Notebook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223760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Gold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722376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5454"/>
                </a:solidFill>
              </a:rPr>
              <a:t>Semantic Model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97280" y="4800600"/>
            <a:ext cx="80467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Resultado: una versión inicial desplegable de Lakehouse + Pipeline + Notebook + Modelo semántico.</a:t>
            </a:r>
            <a:endParaRPr lang="en-US" sz="2000" dirty="0"/>
          </a:p>
        </p:txBody>
      </p:sp>
      <p:pic>
        <p:nvPicPr>
          <p:cNvPr id="22" name="Image 2" descr="/mnt/data/template_unzip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8346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Demo 1 · De requisito a especificación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GSD convierte una idea de negocio en trabajo ejecutable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2240280"/>
            <a:ext cx="5029200" cy="205740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Actúa como arquitecto Fabric.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Necesitamos una solución de ventas con: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arquitectura medallion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ingestión incremental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notebooks versionados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modelo semántico para reporting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despliegue Dev → Test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2423160"/>
            <a:ext cx="44805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A1A1A"/>
                </a:solidFill>
              </a:rPr>
              <a:t>Decisiones explícitas antes de crear artefactos.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Supuestos y riesgos registrados.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Backlog técnico por fase, no una lista caótica de prompts.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28800" y="5166360"/>
            <a:ext cx="7315200" cy="384048"/>
          </a:xfrm>
          <a:prstGeom prst="rect">
            <a:avLst/>
          </a:prstGeom>
          <a:solidFill>
            <a:srgbClr val="007A73"/>
          </a:solidFill>
          <a:ln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Salida esperada: STATE.md + PLAN.md + criterios de verificación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Demo 2 · Generar Fabric Item Definitions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La IA acelera; la definición versionada manda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2148840"/>
            <a:ext cx="4206240" cy="306324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SalesLakehouse.Lakehouse/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.platform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lakehouse.metadata.json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TransformSales.Notebook/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.platform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notebook-content.py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IngestSales.DataPipeline/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.platform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pipeline-content.json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607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Qué enseñamos en pantalla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760720" y="2880360"/>
            <a:ext cx="48463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A1A1A"/>
                </a:solidFill>
              </a:rPr>
              <a:t>Copilot crea estructura inicial.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GSD verifica consistencia con la spec.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Los artefactos se revisan en Git, no solo en el portal.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El portal deja de ser la fuente de verdad.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Demo 3 · Pull Request como control de calidad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Cada cambio deja rastro técnico y funcional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399386" y="245059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039819" y="245059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680253" y="245059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7320686" y="2450592"/>
            <a:ext cx="155448" cy="0"/>
          </a:xfrm>
          <a:prstGeom prst="line">
            <a:avLst/>
          </a:prstGeom>
          <a:noFill/>
          <a:ln w="19050">
            <a:solidFill>
              <a:srgbClr val="007A73"/>
            </a:solidFill>
            <a:prstDash val="solid"/>
            <a:headEnd type="none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914400" y="2194560"/>
            <a:ext cx="14849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Branch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554834" y="2194560"/>
            <a:ext cx="14849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Commit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195267" y="2194560"/>
            <a:ext cx="14849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PR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35701" y="2194560"/>
            <a:ext cx="14849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Review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476134" y="2194560"/>
            <a:ext cx="1484986" cy="5120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A7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73"/>
                </a:solidFill>
              </a:rPr>
              <a:t>Merge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14400" y="3291840"/>
            <a:ext cx="5486400" cy="114300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 checkout -b feature/sales-lakehouse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 commit -m "Add sales Fabric definitions"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 push -u origin feature/sales-lakehouse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49440" y="3218688"/>
            <a:ext cx="41148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A1A1A"/>
                </a:solidFill>
              </a:rPr>
              <a:t>Checklist de naming, parámetros y dependencias.</a:t>
            </a:r>
            <a:endParaRPr lang="en-US" sz="1700" dirty="0"/>
          </a:p>
          <a:p>
            <a:r>
              <a:rPr lang="en-US" sz="1700" dirty="0">
                <a:solidFill>
                  <a:srgbClr val="1A1A1A"/>
                </a:solidFill>
              </a:rPr>
              <a:t>Diffs de definiciones revisables por el equipo.</a:t>
            </a:r>
            <a:endParaRPr lang="en-US" sz="1700" dirty="0"/>
          </a:p>
          <a:p>
            <a:r>
              <a:rPr lang="en-US" sz="1700" dirty="0">
                <a:solidFill>
                  <a:srgbClr val="1A1A1A"/>
                </a:solidFill>
              </a:rPr>
              <a:t>Aprobaciones antes de promover a Test/Prod.</a:t>
            </a:r>
            <a:endParaRPr lang="en-US" sz="1700" dirty="0"/>
          </a:p>
        </p:txBody>
      </p:sp>
      <p:pic>
        <p:nvPicPr>
          <p:cNvPr id="21" name="Image 2" descr="/mnt/data/template_unzip/ppt/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7548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Demo 4 · Despliegue automatizado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Promoción controlada sin abrir diez pantallas del portal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4892040" cy="214884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validate definitions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replace environment 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authenticate with service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deploy item definitions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 smoke test workspace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154680"/>
            <a:ext cx="82296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778240" y="3154680"/>
            <a:ext cx="822960" cy="0"/>
          </a:xfrm>
          <a:prstGeom prst="line">
            <a:avLst/>
          </a:prstGeom>
          <a:noFill/>
          <a:ln w="25400">
            <a:solidFill>
              <a:srgbClr val="007A73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6172200" y="2788920"/>
            <a:ext cx="1005840" cy="731520"/>
          </a:xfrm>
          <a:prstGeom prst="rect">
            <a:avLst/>
          </a:prstGeom>
          <a:solidFill>
            <a:srgbClr val="007A73"/>
          </a:solidFill>
          <a:ln>
            <a:solidFill>
              <a:srgbClr val="007A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772400" y="2788920"/>
            <a:ext cx="1005840" cy="731520"/>
          </a:xfrm>
          <a:prstGeom prst="rect">
            <a:avLst/>
          </a:prstGeom>
          <a:solidFill>
            <a:srgbClr val="007A73"/>
          </a:solidFill>
          <a:ln>
            <a:solidFill>
              <a:srgbClr val="007A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9372600" y="2788920"/>
            <a:ext cx="1005840" cy="731520"/>
          </a:xfrm>
          <a:prstGeom prst="rect">
            <a:avLst/>
          </a:prstGeom>
          <a:solidFill>
            <a:srgbClr val="007A73"/>
          </a:solidFill>
          <a:ln>
            <a:solidFill>
              <a:srgbClr val="007A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172200" y="4251960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Opciones: Fabric REST APIs, Bulk Import Item Definition API, fabric-cicd o pipelines de despliegue según madurez del cliente.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Copilot: prompts que sí ayudan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Menos “hazme algo”, más contexto, contrato y verificación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5074920" cy="3337560"/>
          </a:xfrm>
          <a:prstGeom prst="rect">
            <a:avLst/>
          </a:prstGeom>
          <a:solidFill>
            <a:srgbClr val="F7FBFA"/>
          </a:solidFill>
          <a:ln w="12700">
            <a:solidFill>
              <a:srgbClr val="BCE1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Contexto: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Lee .gsd/STATE.md y src/fabric/.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Tarea: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 el pipeline IngestSales con parámetros por entorno.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Restricciones: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No hardcodees workspace IDs.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Mantén nombres Fabric compatibles con Git.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Verifica: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Devuelve archivos modificados y riesgos.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37960" y="2377440"/>
            <a:ext cx="43891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A1A1A"/>
                </a:solidFill>
              </a:rPr>
              <a:t>Anclar siempre al estado GSD.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Pedir salida verificable.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Separar generación de validación.</a:t>
            </a:r>
            <a:endParaRPr lang="en-US" sz="1800" dirty="0"/>
          </a:p>
          <a:p>
            <a:r>
              <a:rPr lang="en-US" sz="1800" dirty="0">
                <a:solidFill>
                  <a:srgbClr val="1A1A1A"/>
                </a:solidFill>
              </a:rPr>
              <a:t>Hacer explícitas las reglas de entorno y naming.</a:t>
            </a:r>
            <a:endParaRPr lang="en-US" sz="1800" dirty="0"/>
          </a:p>
        </p:txBody>
      </p:sp>
      <p:pic>
        <p:nvPicPr>
          <p:cNvPr id="12" name="Image 2" descr="/mnt/data/template_unzip/ppt/media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572000"/>
            <a:ext cx="11430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Gobierno y seguridad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El enfoque declarativo solo funciona si el proceso está protegido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20574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A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73736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Identidad: service principal, permisos mínimos y secretos fuera del repo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30632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B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1737360" y="3172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Entornos: parámetros, naming y sustitución de IDs controlada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7240" y="40690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C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1737360" y="4178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Calidad: validaciones antes del deploy y smoke tests después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0749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D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1737360" y="5184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Gobierno: revisión por PR y trazabilidad requisito → spec → release</a:t>
            </a:r>
            <a:endParaRPr lang="en-US" sz="1600" dirty="0"/>
          </a:p>
        </p:txBody>
      </p:sp>
      <p:pic>
        <p:nvPicPr>
          <p:cNvPr id="18" name="Image 2" descr="/mnt/data/template_unzip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55448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Dónde hay que ser prudentes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La demo enseña el patrón; en producción hay matices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057400"/>
            <a:ext cx="64008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A1A1A"/>
                </a:solidFill>
              </a:rPr>
              <a:t>La madurez de Git/API puede variar por tipo de ítem Fabric.</a:t>
            </a:r>
            <a:endParaRPr lang="en-US" sz="1900" dirty="0"/>
          </a:p>
          <a:p>
            <a:r>
              <a:rPr lang="en-US" sz="1900" dirty="0">
                <a:solidFill>
                  <a:srgbClr val="1A1A1A"/>
                </a:solidFill>
              </a:rPr>
              <a:t>Algunos artefactos requieren manejo fino de dependencias e IDs entre workspaces.</a:t>
            </a:r>
            <a:endParaRPr lang="en-US" sz="1900" dirty="0"/>
          </a:p>
          <a:p>
            <a:r>
              <a:rPr lang="en-US" sz="1900" dirty="0">
                <a:solidFill>
                  <a:srgbClr val="1A1A1A"/>
                </a:solidFill>
              </a:rPr>
              <a:t>La IA debe generar borradores, no saltarse revisión ni seguridad.</a:t>
            </a:r>
            <a:endParaRPr lang="en-US" sz="1900" dirty="0"/>
          </a:p>
          <a:p>
            <a:r>
              <a:rPr lang="en-US" sz="1900" dirty="0">
                <a:solidFill>
                  <a:srgbClr val="1A1A1A"/>
                </a:solidFill>
              </a:rPr>
              <a:t>Preparar un “plan B” en demo: repo ya generado + deploy prevalidado.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5895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Mensaje clave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589520" y="2788920"/>
            <a:ext cx="3383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</a:rPr>
              <a:t>No vendemos magia. Vendemos un flujo repetible, auditable y escalable.</a:t>
            </a:r>
            <a:endParaRPr lang="en-US" sz="2300" dirty="0"/>
          </a:p>
        </p:txBody>
      </p:sp>
      <p:pic>
        <p:nvPicPr>
          <p:cNvPr id="13" name="Image 2" descr="/mnt/data/template_unzip/ppt/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480560"/>
            <a:ext cx="1188720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617220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5454"/>
                </a:solidFill>
              </a:rPr>
              <a:t>Referencias: Microsoft Learn Fabric REST APIs / Git integration · github.com/open-gsd/gsd-core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3"/>
                </a:solidFill>
              </a:rPr>
              <a:t>Qué te llevas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13232" y="1719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3"/>
                </a:solidFill>
              </a:rPr>
              <a:t>Tres ideas para empezar el lunes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1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737360" y="2212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El portal no debe ser la fuente de verdad.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144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2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1737360" y="3264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GSD ordena el contexto para que Copilot trabaje con intención.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144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A73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173736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Fabric as Code es DevOps aplicado a plataformas de datos.</a:t>
            </a:r>
            <a:endParaRPr lang="en-US" sz="2400" dirty="0"/>
          </a:p>
        </p:txBody>
      </p:sp>
      <p:pic>
        <p:nvPicPr>
          <p:cNvPr id="16" name="Image 2" descr="/mnt/data/template_unzip/ppt/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480060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pic>
        <p:nvPicPr>
          <p:cNvPr id="3" name="Image 0" descr="/mnt/data/template_unzip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46304"/>
            <a:ext cx="129844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892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Fabric Day 2026 – Madrid</a:t>
            </a:r>
            <a:endParaRPr lang="en-US" sz="900" dirty="0"/>
          </a:p>
        </p:txBody>
      </p:sp>
      <p:pic>
        <p:nvPicPr>
          <p:cNvPr id="5" name="Image 1" descr="/mnt/data/template_unzip/ppt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868680" cy="804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73"/>
                </a:solidFill>
              </a:rPr>
              <a:t>https://globalfabric.community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82980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A73"/>
                </a:solidFill>
              </a:rPr>
              <a:t>#GlobalFabricDay #GFD26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5800" y="1463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07A73"/>
                </a:solidFill>
              </a:rPr>
              <a:t>¿Preguntas?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13232" y="26517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73"/>
                </a:solidFill>
              </a:rPr>
              <a:t>Gracias · Global Fabric Day 2026 – Madrid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1520" y="3182112"/>
            <a:ext cx="5669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Repositorio demo: github.com/&lt;org&gt;/fabric-gsd-demo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GSD Core: github.com/open-gsd/gsd-core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9244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73"/>
                </a:solidFill>
              </a:rPr>
              <a:t>Únete a la comunidad</a:t>
            </a:r>
            <a:endParaRPr lang="en-US" sz="2200" dirty="0"/>
          </a:p>
        </p:txBody>
      </p:sp>
      <p:pic>
        <p:nvPicPr>
          <p:cNvPr id="12" name="Image 2" descr="/mnt/data/template_unzip/ppt/media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14600"/>
            <a:ext cx="2011680" cy="2011680"/>
          </a:xfrm>
          <a:prstGeom prst="rect">
            <a:avLst/>
          </a:prstGeom>
        </p:spPr>
      </p:pic>
      <p:pic>
        <p:nvPicPr>
          <p:cNvPr id="13" name="Image 3" descr="/mnt/data/template_unzip/ppt/media/imag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02336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Fabric User Group ESP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Clicking: domina Microsoft Fabric con Fabric as Code, Copilot y GSD</dc:title>
  <dc:subject>Stop Clicking: domina Microsoft Fabric con Fabric as Code, Copilot y GSD</dc:subject>
  <dc:creator>David Oliva Paredes</dc:creator>
  <cp:lastModifiedBy>David Oliva Paredes</cp:lastModifiedBy>
  <cp:revision>1</cp:revision>
  <dcterms:created xsi:type="dcterms:W3CDTF">2026-06-23T12:33:47Z</dcterms:created>
  <dcterms:modified xsi:type="dcterms:W3CDTF">2026-06-23T12:33:47Z</dcterms:modified>
</cp:coreProperties>
</file>